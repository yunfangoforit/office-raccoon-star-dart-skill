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3"/>
  </p:notesMasterIdLst>
  <p:sldIdLst>
    <p:sldId id="269" r:id="rId3"/>
    <p:sldId id="257" r:id="rId4"/>
    <p:sldId id="258" r:id="rId5"/>
    <p:sldId id="259" r:id="rId6"/>
    <p:sldId id="260" r:id="rId7"/>
    <p:sldId id="267" r:id="rId8"/>
    <p:sldId id="268" r:id="rId9"/>
    <p:sldId id="264" r:id="rId10"/>
    <p:sldId id="265" r:id="rId11"/>
    <p:sldId id="266" r:id="rId12"/>
  </p:sldIdLst>
  <p:sldSz cx="16256000" cy="9144000"/>
  <p:notesSz cx="9144000" cy="16256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127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762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02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STAR-DART OPC · ROADSHOW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30000" y="635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DATAWHALE · OFFICE RACCOON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20320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ACTIVE TRIGGER · OPEN SOURCE KNOWLEDGE BASE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2540000"/>
            <a:ext cx="889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Star-DART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OPC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5080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把 GitHub Star 变成开源项目知识资产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5842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20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Star  →  文档  →  台账  →  仪表盘  →  周 PPT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6984999"/>
            <a:ext cx="14732000" cy="0"/>
          </a:xfrm>
          <a:prstGeom prst="straightConnector1">
            <a:avLst/>
          </a:prstGeom>
          <a:noFill/>
          <a:ln w="12700">
            <a:solidFill>
              <a:srgbClr val="1A1A1A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762000" y="7112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主动触发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，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现在看懂，未来找回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，</a:t>
            </a:r>
            <a:r>
              <a:rPr lang="en-US" b="1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随时复用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000" y="7697303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梁宇凡</a:t>
            </a:r>
            <a:r>
              <a:rPr kumimoji="0" lang="zh-CN" alt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kumimoji="0" lang="en-US" sz="1200" b="0" i="0" u="none" strike="noStrike" kern="0" cap="none" spc="20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复赛路演</a:t>
            </a: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· 2026.07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SCENE · 01 /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0" y="635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 PAIN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 PAIN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889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越多，复用越少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62000" y="3429000"/>
            <a:ext cx="4572000" cy="2540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683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· FORGET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4064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收藏后遗忘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16000" y="4635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点 Star 时觉得"以后用得上"，过几周只剩模糊印象，忘记项目亮点和适用范围。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3429000"/>
            <a:ext cx="4572000" cy="2540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3683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· 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0" y="4064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反复翻找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096000" y="4635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真正需要时只能靠关键词翻找 GitHub Star 列表，项目越多越难命中目标。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3429000"/>
            <a:ext cx="4572000" cy="25400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0" y="3683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· REREAD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76000" y="4064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重复理解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176000" y="4635500"/>
            <a:ext cx="406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找到以后还要重新读 README、示例、架构和边界说明。AI 编程时可能绕过已收藏的优秀实现。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7112000"/>
            <a:ext cx="14732000" cy="0"/>
          </a:xfrm>
          <a:prstGeom prst="straightConnector1">
            <a:avLst/>
          </a:prstGeom>
          <a:noFill/>
          <a:ln w="12700">
            <a:solidFill>
              <a:srgbClr val="D5D4CF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762000" y="73660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 解决的不是"摘要"问题，而是"收藏如何变成可复用知识资产"的问题。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SCENE · 02 /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76000" y="635000"/>
            <a:ext cx="431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COLLECTION TO ASSET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016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把"看过"变成"能用"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62000" y="3302000"/>
            <a:ext cx="635000" cy="304800"/>
          </a:xfrm>
          <a:prstGeom prst="rect">
            <a:avLst/>
          </a:prstGeom>
          <a:solidFill>
            <a:srgbClr val="F0EF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3302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24000" y="330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STAR LIST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660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链接堆积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62000" y="46355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收藏动作完成后，知识链路停止在浏览器里。依赖个人记忆，缺少统一分类与标签。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74000" y="3302000"/>
            <a:ext cx="0" cy="3175000"/>
          </a:xfrm>
          <a:prstGeom prst="straightConnector1">
            <a:avLst/>
          </a:prstGeom>
          <a:noFill/>
          <a:ln w="12700">
            <a:solidFill>
              <a:srgbClr val="D5D4CF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382000" y="3302000"/>
            <a:ext cx="635000" cy="3048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3302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0" y="330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 OPC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82000" y="3810000"/>
            <a:ext cx="711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知识资产化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382000" y="4635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每个新增 Star 都进入"理解、归档、索引、复用"的生产链路。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5880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 依赖个人记忆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 缺少统一分类与标签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 不能直接复用到学习、选题或汇报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82000" y="5588000"/>
            <a:ext cx="711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 结构化中文项目档案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 飞书知识库与多维表格索引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 看板、周报、PPT 持续沉淀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· 01 /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0" y="635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LAYERS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762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三层产品架构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890000" y="1905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 负责发现新增 Star 并标准化任务；办公小浣熊负责理解、生成和办公交付；知识库负责长期索引、找回与复用。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3302000"/>
            <a:ext cx="4572000" cy="3810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556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" y="400050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 </a:t>
            </a:r>
            <a:r>
              <a:rPr lang="en-US" sz="28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定时任务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16000" y="46990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办公小浣熊定时任务触发GitHub</a:t>
            </a: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 </a:t>
            </a:r>
            <a:r>
              <a:rPr lang="en-US" sz="16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API、状态快照</a:t>
            </a:r>
            <a:r>
              <a:rPr lang="zh-CN" alt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和获取新增仓库信息</a:t>
            </a: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0" y="3302000"/>
            <a:ext cx="4572000" cy="38100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3556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0" y="400050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 err="1"/>
              <a:t>办公小浣熊综合处理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96000" y="46990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本地小浣熊</a:t>
            </a: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Claw</a:t>
            </a:r>
            <a:r>
              <a:rPr lang="zh-CN" alt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结合打磨好的</a:t>
            </a:r>
            <a:r>
              <a:rPr lang="zh-CN" alt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 Skill</a:t>
            </a:r>
            <a:r>
              <a:rPr lang="zh-CN" alt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</a:t>
            </a:r>
            <a:r>
              <a:rPr lang="en-US" sz="16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利用小浣熊专家团、research-synthesis，以及飞书链接插件</a:t>
            </a:r>
            <a:r>
              <a:rPr lang="zh-CN" alt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</a:t>
            </a:r>
            <a:r>
              <a:rPr lang="en-US" sz="16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飞书文档、多维表格、仪表盘生成</a:t>
            </a:r>
            <a:r>
              <a:rPr lang="zh-CN" alt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）</a:t>
            </a: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22000" y="3302000"/>
            <a:ext cx="4572000" cy="3810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6" name="Text 14"/>
          <p:cNvSpPr/>
          <p:nvPr/>
        </p:nvSpPr>
        <p:spPr>
          <a:xfrm>
            <a:off x="11176000" y="3556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76000" y="400050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各类交付资产落库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176000" y="46990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飞书知识库、多维表格、Base 仪表盘、周报和团队技术雷达。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7620000"/>
            <a:ext cx="14732000" cy="0"/>
          </a:xfrm>
          <a:prstGeom prst="straightConnector1">
            <a:avLst/>
          </a:prstGeom>
          <a:noFill/>
          <a:ln w="12700">
            <a:solidFill>
              <a:srgbClr val="D5D4CF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762000" y="7874000"/>
            <a:ext cx="1143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核心判断：这不是一个单点摘要脚本，而是一套把 GITHUB STAR 转化为个人开源知识库的持续运行系统。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· 02 /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22000" y="63500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OFFICE RACCOON 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A SINGLE PROMPT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016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小浣熊不是被调用一次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62000" y="3175000"/>
            <a:ext cx="4572000" cy="190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3655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3746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</a:t>
            </a: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Claw</a:t>
            </a:r>
            <a:r>
              <a:rPr lang="zh-CN" alt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200" b="1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定时任务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16000" y="4254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接收 Star-DART 标准任务，读取仓库材料并保留执行上下文。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42000" y="3175000"/>
            <a:ext cx="4572000" cy="190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33655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0" y="3746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流程固化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96000" y="4254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把"定位、亮点、架构、快速开始、边界"固化成可复用 Skill。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22000" y="3175000"/>
            <a:ext cx="4572000" cy="19050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0" y="3365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76000" y="3746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研究研判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76000" y="4254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结合 README、DeepWiki、Release、Issue 和用户场景做价值判断。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5334000"/>
            <a:ext cx="4572000" cy="190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5245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6000" y="5905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高质量中文档案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16000" y="6413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生成统一结构的中文项目文档，不是简单翻译。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42000" y="5334000"/>
            <a:ext cx="4572000" cy="190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0" y="55245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0" y="5905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索引与看板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96000" y="6413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写入多维表格字段，沉淀分类、标签、链接和复用等级。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22000" y="5334000"/>
            <a:ext cx="4572000" cy="190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27" name="Text 25"/>
          <p:cNvSpPr/>
          <p:nvPr/>
        </p:nvSpPr>
        <p:spPr>
          <a:xfrm>
            <a:off x="11176000" y="55245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76000" y="5905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持续发布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176000" y="6413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输出 PPT、周报和技术雷达，把个人知识库转成可分享资产。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96424D2B-3C8F-E971-FF30-5C202B172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147" y="3760793"/>
            <a:ext cx="7772400" cy="28924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73C15D2-C757-BC07-722E-12134E33E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961" y="905592"/>
            <a:ext cx="7772400" cy="73963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7EF37231-3119-23EE-422E-011625527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61" y="527695"/>
            <a:ext cx="15221876" cy="7873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F928C8CF-6676-251A-CCA2-E109A54953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4367" y="2389224"/>
            <a:ext cx="11587265" cy="4777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C31E895D-BEE7-A539-DB6D-94FFC11B87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43" y="970905"/>
            <a:ext cx="13740207" cy="7179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· 01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76000" y="635000"/>
            <a:ext cx="431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 &amp; USERS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DELIVERY MATRIX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把重复整理动作交给小浣熊</a:t>
            </a:r>
            <a:endParaRPr lang="en-US" sz="4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790895"/>
              </p:ext>
            </p:extLst>
          </p:nvPr>
        </p:nvGraphicFramePr>
        <p:xfrm>
          <a:off x="762000" y="2921000"/>
          <a:ext cx="14732000" cy="3048000"/>
        </p:xfrm>
        <a:graphic>
          <a:graphicData uri="http://schemas.openxmlformats.org/drawingml/2006/table">
            <a:tbl>
              <a:tblPr/>
              <a:tblGrid>
                <a:gridCol w="559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 err="1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原手工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tx1"/>
                        </a:solidFill>
                        <a:latin typeface="Liter" panose="02000503030000020004" pitchFamily="2" charset="0"/>
                        <a:ea typeface="MiSans" charset="0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Star-DART OPC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打开 GitHub Star 列表逐个检查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  <a:latin typeface="Liter" panose="02000503030000020004" pitchFamily="2" charset="0"/>
                          <a:ea typeface="+mn-ea"/>
                          <a:cs typeface="MiSans" pitchFamily="34" charset="-120"/>
                        </a:rPr>
                        <a:t>→</a:t>
                      </a:r>
                      <a:endParaRPr lang="en-US" sz="1500" dirty="0">
                        <a:solidFill>
                          <a:schemeClr val="tx1"/>
                        </a:solidFill>
                        <a:latin typeface="Liter" panose="02000503030000020004" pitchFamily="2" charset="0"/>
                        <a:ea typeface="+mn-ea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 err="1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定时任务输出新增仓库</a:t>
                      </a:r>
                      <a:endParaRPr lang="en-US" sz="1500" b="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重新阅读 README 后写零散笔记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  <a:latin typeface="Liter" panose="02000503030000020004" pitchFamily="2" charset="0"/>
                          <a:ea typeface="+mn-ea"/>
                          <a:cs typeface="MiSans" pitchFamily="34" charset="-120"/>
                        </a:rPr>
                        <a:t>→</a:t>
                      </a:r>
                      <a:endParaRPr lang="en-US" sz="1500" dirty="0">
                        <a:solidFill>
                          <a:schemeClr val="tx1"/>
                        </a:solidFill>
                        <a:latin typeface="Liter" panose="02000503030000020004" pitchFamily="2" charset="0"/>
                        <a:ea typeface="+mn-ea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小浣熊按统一模板生成项目档案</a:t>
                      </a:r>
                      <a:endParaRPr lang="en-US" sz="1500" b="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手动维护 Excel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  <a:latin typeface="Liter" panose="02000503030000020004" pitchFamily="2" charset="0"/>
                          <a:ea typeface="+mn-ea"/>
                          <a:cs typeface="MiSans" pitchFamily="34" charset="-120"/>
                        </a:rPr>
                        <a:t>→</a:t>
                      </a:r>
                      <a:endParaRPr lang="en-US" sz="1500" dirty="0">
                        <a:solidFill>
                          <a:schemeClr val="tx1"/>
                        </a:solidFill>
                        <a:latin typeface="Liter" panose="02000503030000020004" pitchFamily="2" charset="0"/>
                        <a:ea typeface="+mn-ea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飞书 Base 直接作为台账</a:t>
                      </a:r>
                      <a:endParaRPr lang="en-US" sz="1500" b="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手动做统计图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  <a:latin typeface="Liter" panose="02000503030000020004" pitchFamily="2" charset="0"/>
                          <a:ea typeface="+mn-ea"/>
                          <a:cs typeface="MiSans" pitchFamily="34" charset="-120"/>
                        </a:rPr>
                        <a:t>→</a:t>
                      </a:r>
                      <a:endParaRPr lang="en-US" sz="1500" dirty="0">
                        <a:solidFill>
                          <a:schemeClr val="tx1"/>
                        </a:solidFill>
                        <a:latin typeface="Liter" panose="02000503030000020004" pitchFamily="2" charset="0"/>
                        <a:ea typeface="+mn-ea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飞书 Base 仪表盘持续统计</a:t>
                      </a:r>
                      <a:endParaRPr lang="en-US" sz="1500" b="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事后忘记本周看过什么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  <a:latin typeface="Liter" panose="02000503030000020004" pitchFamily="2" charset="0"/>
                          <a:ea typeface="+mn-ea"/>
                          <a:cs typeface="MiSans" pitchFamily="34" charset="-120"/>
                        </a:rPr>
                        <a:t>→</a:t>
                      </a:r>
                      <a:endParaRPr lang="en-US" sz="1500" dirty="0">
                        <a:solidFill>
                          <a:schemeClr val="tx1"/>
                        </a:solidFill>
                        <a:latin typeface="Liter" panose="02000503030000020004" pitchFamily="2" charset="0"/>
                        <a:ea typeface="+mn-ea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每周 PPT 自动形成回顾材料</a:t>
                      </a:r>
                      <a:endParaRPr lang="en-US" sz="1500" b="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223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6" name="Text 5"/>
          <p:cNvSpPr/>
          <p:nvPr/>
        </p:nvSpPr>
        <p:spPr>
          <a:xfrm>
            <a:off x="762000" y="65024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编程用户 · 独立开发者 · 学生 / 科研新人 · 技术团队 · 技术内容创作者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2000" y="69342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OUTPUTS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2000" y="7239000"/>
            <a:ext cx="3429000" cy="8255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7302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飞书子文档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每个仓库独立项目档案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08500" y="7239000"/>
            <a:ext cx="3429000" cy="8255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3" name="Text 10"/>
          <p:cNvSpPr/>
          <p:nvPr/>
        </p:nvSpPr>
        <p:spPr>
          <a:xfrm>
            <a:off x="4699000" y="7302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飞书多维表格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资产台账与去重来源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55000" y="7239000"/>
            <a:ext cx="3429000" cy="8255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5" name="Text 12"/>
          <p:cNvSpPr/>
          <p:nvPr/>
        </p:nvSpPr>
        <p:spPr>
          <a:xfrm>
            <a:off x="8445500" y="7302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仪表盘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分类分布与复用等级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2001500" y="7239000"/>
            <a:ext cx="3492500" cy="8255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7" name="Text 14"/>
          <p:cNvSpPr/>
          <p:nvPr/>
        </p:nvSpPr>
        <p:spPr>
          <a:xfrm>
            <a:off x="12192000" y="7302500"/>
            <a:ext cx="3111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周 PPT 回顾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每周新增 Star 记忆强化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· 02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76000" y="635000"/>
            <a:ext cx="431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</a:t>
            </a:r>
            <a:r>
              <a:rPr lang="zh-CN" altLang="en-US" sz="3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r>
              <a:rPr lang="en-US" sz="38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从个人</a:t>
            </a:r>
            <a:r>
              <a:rPr lang="en-US" sz="3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Skill，升级为免部署的云端服务</a:t>
            </a:r>
            <a:endParaRPr lang="en-US" sz="3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469390"/>
              </p:ext>
            </p:extLst>
          </p:nvPr>
        </p:nvGraphicFramePr>
        <p:xfrm>
          <a:off x="762000" y="3048000"/>
          <a:ext cx="14732000" cy="2920998"/>
        </p:xfrm>
        <a:graphic>
          <a:graphicData uri="http://schemas.openxmlformats.org/drawingml/2006/table">
            <a:tbl>
              <a:tblPr/>
              <a:tblGrid>
                <a:gridCol w="515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57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当前 Skill 模式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云端订阅服务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10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需配置 GitHub / 飞书 token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 err="1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用户</a:t>
                      </a:r>
                      <a:r>
                        <a:rPr lang="zh-CN" altLang="en-US" sz="1500" b="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 </a:t>
                      </a:r>
                      <a:r>
                        <a:rPr lang="en-US" sz="1500" b="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OAuth</a:t>
                      </a:r>
                      <a:r>
                        <a:rPr lang="zh-CN" altLang="en-US" sz="1500" b="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 </a:t>
                      </a:r>
                      <a:r>
                        <a:rPr lang="en-US" sz="1500" b="0" dirty="0" err="1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授权后即可使用</a:t>
                      </a:r>
                      <a:endParaRPr lang="en-US" sz="1500" b="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10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需办公小浣熊或本地环境定时执行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云端自动处理新增 Star</a:t>
                      </a:r>
                      <a:endParaRPr lang="en-US" sz="1500" b="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10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适合个人和复赛演示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适合不想部署的开发者、学生和团队</a:t>
                      </a:r>
                      <a:endParaRPr lang="en-US" sz="1500" b="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10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输出进入个人飞书目录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 err="1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可同步到邮件、飞书或</a:t>
                      </a:r>
                      <a:r>
                        <a:rPr lang="zh-CN" altLang="en-US" sz="1500" b="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 </a:t>
                      </a:r>
                      <a:r>
                        <a:rPr lang="en-US" altLang="zh-CN" sz="1500" b="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Obsidian/Notion</a:t>
                      </a:r>
                      <a:r>
                        <a:rPr lang="zh-CN" altLang="en-US" sz="1500" b="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 </a:t>
                      </a:r>
                      <a:r>
                        <a:rPr lang="en-US" sz="1500" b="0" dirty="0" err="1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MiSans" pitchFamily="34" charset="-120"/>
                        </a:rPr>
                        <a:t>个人知识库</a:t>
                      </a:r>
                      <a:endParaRPr lang="en-US" sz="1500" b="0" dirty="0">
                        <a:latin typeface="Liter" panose="02000503030000020004" pitchFamily="2" charset="0"/>
                        <a:ea typeface="SimHei" panose="02010609060101010101" pitchFamily="49" charset="-122"/>
                        <a:cs typeface="Mi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477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TIERS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2000" y="6858000"/>
            <a:ext cx="4572000" cy="10795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6" name="Text 6"/>
          <p:cNvSpPr/>
          <p:nvPr/>
        </p:nvSpPr>
        <p:spPr>
          <a:xfrm>
            <a:off x="1016000" y="69596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个人版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16000" y="7315200"/>
            <a:ext cx="406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订阅自己的 GitHub Star，每次新增自动推送项目档案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42000" y="6858000"/>
            <a:ext cx="4572000" cy="1016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2" name="Text 9"/>
          <p:cNvSpPr/>
          <p:nvPr/>
        </p:nvSpPr>
        <p:spPr>
          <a:xfrm>
            <a:off x="6096000" y="69596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团队版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6000" y="731520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 err="1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汇总共享团队成员</a:t>
            </a: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Star，形成团队开源项目资产池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922000" y="6858000"/>
            <a:ext cx="4572000" cy="10795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5" name="Text 12"/>
          <p:cNvSpPr/>
          <p:nvPr/>
        </p:nvSpPr>
        <p:spPr>
          <a:xfrm>
            <a:off x="11176000" y="69596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知识库版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176000" y="7315200"/>
            <a:ext cx="406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云端构建专属项目知识库，支持同步到飞书和公开 CDN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· 03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14000" y="6350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/ SKILLS NETWORK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270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</a:t>
            </a:r>
            <a:r>
              <a:rPr lang="zh-CN" alt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r>
              <a:rPr lang="en-US" sz="36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让</a:t>
            </a: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 编程开工前，先查询用户收藏过的好项目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62000" y="3175000"/>
            <a:ext cx="3302000" cy="2667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4036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37846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 MCP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16000" y="42926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Codex / Claude Code 开始项目时，先检索用户专属开源项目库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3175000"/>
            <a:ext cx="3302000" cy="2667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1" name="Text 9"/>
          <p:cNvSpPr/>
          <p:nvPr/>
        </p:nvSpPr>
        <p:spPr>
          <a:xfrm>
            <a:off x="4826000" y="34036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6000" y="37846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 Skills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26000" y="42926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把项目档案转成可复用的 Agent / Skill 构建参考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82000" y="3175000"/>
            <a:ext cx="3302000" cy="26670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4036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36000" y="37846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统一优质项目库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36000" y="42926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汇总多用户 Star 行为，形成"用脚投票"的高质量开源项目索引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192000" y="3175000"/>
            <a:ext cx="3302000" cy="2667000"/>
          </a:xfrm>
          <a:prstGeom prst="rect">
            <a:avLst/>
          </a:prstGeom>
          <a:solidFill>
            <a:srgbClr val="D1DF00"/>
          </a:solidFill>
          <a:ln/>
        </p:spPr>
      </p:sp>
      <p:sp>
        <p:nvSpPr>
          <p:cNvPr id="19" name="Text 17"/>
          <p:cNvSpPr/>
          <p:nvPr/>
        </p:nvSpPr>
        <p:spPr>
          <a:xfrm>
            <a:off x="12446000" y="34036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46000" y="37846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搜索增强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446000" y="42926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缓解 GitHub </a:t>
            </a:r>
            <a:r>
              <a:rPr lang="en-US" sz="1400" dirty="0" err="1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搜索困难模糊、AI</a:t>
            </a: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推荐项目良莠不齐的问题</a:t>
            </a:r>
            <a:r>
              <a:rPr lang="zh-CN" alt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br>
              <a:rPr lang="en-US" altLang="zh-CN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</a:br>
            <a:r>
              <a:rPr lang="zh-CN" alt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让 </a:t>
            </a:r>
            <a:r>
              <a:rPr lang="en-US" altLang="zh-CN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r>
              <a:rPr lang="zh-CN" alt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优先看到那些用户“ 用脚投票 ”出来的项目。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2000" y="6350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 PATH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2000" y="6794500"/>
            <a:ext cx="3302000" cy="63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6794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个人知识库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14800" y="7086600"/>
            <a:ext cx="304800" cy="0"/>
          </a:xfrm>
          <a:prstGeom prst="straightConnector1">
            <a:avLst/>
          </a:prstGeom>
          <a:noFill/>
          <a:ln w="25400">
            <a:solidFill>
              <a:srgbClr val="D0DE00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470400" y="6794500"/>
            <a:ext cx="3302000" cy="63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27" name="Text 25"/>
          <p:cNvSpPr/>
          <p:nvPr/>
        </p:nvSpPr>
        <p:spPr>
          <a:xfrm>
            <a:off x="4470400" y="6794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团队技术雷达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823200" y="7086600"/>
            <a:ext cx="304800" cy="0"/>
          </a:xfrm>
          <a:prstGeom prst="straightConnector1">
            <a:avLst/>
          </a:prstGeom>
          <a:noFill/>
          <a:ln w="25400">
            <a:solidFill>
              <a:srgbClr val="D0DE00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8178800" y="6794500"/>
            <a:ext cx="3302000" cy="63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30" name="Text 28"/>
          <p:cNvSpPr/>
          <p:nvPr/>
        </p:nvSpPr>
        <p:spPr>
          <a:xfrm>
            <a:off x="8178800" y="6794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云端订阅服务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531600" y="7086600"/>
            <a:ext cx="304800" cy="0"/>
          </a:xfrm>
          <a:prstGeom prst="straightConnector1">
            <a:avLst/>
          </a:prstGeom>
          <a:noFill/>
          <a:ln w="25400">
            <a:solidFill>
              <a:srgbClr val="D0DE00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1887200" y="6794500"/>
            <a:ext cx="3606800" cy="6350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0" y="6794500"/>
            <a:ext cx="3606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检索网络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 · 01 /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76000" y="635000"/>
            <a:ext cx="431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RECORDED VIDEO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889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分钟视频展示完整闭环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8890000" cy="4572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4699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5121" y="54918"/>
                </a:moveTo>
                <a:cubicBezTo>
                  <a:pt x="134030" y="44797"/>
                  <a:pt x="108517" y="45244"/>
                  <a:pt x="87766" y="55959"/>
                </a:cubicBezTo>
                <a:cubicBezTo>
                  <a:pt x="67015" y="66675"/>
                  <a:pt x="54429" y="86171"/>
                  <a:pt x="54429" y="107156"/>
                </a:cubicBezTo>
                <a:lnTo>
                  <a:pt x="54429" y="654844"/>
                </a:lnTo>
                <a:cubicBezTo>
                  <a:pt x="54429" y="675829"/>
                  <a:pt x="67185" y="695325"/>
                  <a:pt x="87766" y="706041"/>
                </a:cubicBezTo>
                <a:cubicBezTo>
                  <a:pt x="108347" y="716756"/>
                  <a:pt x="134030" y="717203"/>
                  <a:pt x="155121" y="707082"/>
                </a:cubicBezTo>
                <a:lnTo>
                  <a:pt x="726621" y="433239"/>
                </a:lnTo>
                <a:cubicBezTo>
                  <a:pt x="748393" y="422821"/>
                  <a:pt x="762000" y="402729"/>
                  <a:pt x="762000" y="381000"/>
                </a:cubicBezTo>
                <a:cubicBezTo>
                  <a:pt x="762000" y="359271"/>
                  <a:pt x="748393" y="339179"/>
                  <a:pt x="726621" y="328761"/>
                </a:cubicBezTo>
                <a:lnTo>
                  <a:pt x="155121" y="54918"/>
                </a:lnTo>
                <a:close/>
              </a:path>
            </a:pathLst>
          </a:custGeom>
          <a:solidFill>
            <a:srgbClr val="8A8A8A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0" y="558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点击播放录制视频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0" y="3048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0" y="3492500"/>
            <a:ext cx="533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 GitHub Star 触发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用户在 GitHub 收藏一个新仓库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160000" y="4419600"/>
            <a:ext cx="5334000" cy="0"/>
          </a:xfrm>
          <a:prstGeom prst="straightConnector1">
            <a:avLst/>
          </a:prstGeom>
          <a:noFill/>
          <a:ln w="12700">
            <a:solidFill>
              <a:srgbClr val="D5D4CF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0160000" y="4546600"/>
            <a:ext cx="533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 办公小浣熊执行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定时任务运行脚本，发现 Base 中尚未入库的新增仓库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160000" y="5473700"/>
            <a:ext cx="5334000" cy="0"/>
          </a:xfrm>
          <a:prstGeom prst="straightConnector1">
            <a:avLst/>
          </a:prstGeom>
          <a:noFill/>
          <a:ln w="12700">
            <a:solidFill>
              <a:srgbClr val="D5D4CF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0160000" y="5600700"/>
            <a:ext cx="533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 项目文档生成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小浣熊生成项目定位、核心亮点、技术结构和使用建议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160000" y="6527800"/>
            <a:ext cx="5334000" cy="0"/>
          </a:xfrm>
          <a:prstGeom prst="straightConnector1">
            <a:avLst/>
          </a:prstGeom>
          <a:noFill/>
          <a:ln w="12700">
            <a:solidFill>
              <a:srgbClr val="D5D4CF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0160000" y="6654800"/>
            <a:ext cx="533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 飞书资产入库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项目文档、Base 台账、仪表盘和周回顾 PPT 沉淀在同一目录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/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26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778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</a:t>
            </a:r>
            <a:r>
              <a:rPr lang="en-US" altLang="zh-CN" sz="1200" kern="0" spc="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主动触发</a:t>
            </a:r>
            <a:r>
              <a:rPr kumimoji="0" lang="zh-CN" altLang="en-US" sz="480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，</a:t>
            </a:r>
            <a:r>
              <a:rPr kumimoji="0" lang="en-US" altLang="zh-CN" sz="480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现在看懂，未来找回</a:t>
            </a:r>
            <a:r>
              <a:rPr kumimoji="0" lang="en-US" altLang="zh-CN" sz="480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，</a:t>
            </a:r>
            <a:r>
              <a:rPr lang="en-US" altLang="zh-CN" sz="48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随时复用</a:t>
            </a:r>
            <a:endParaRPr kumimoji="0" lang="en-US" altLang="zh-CN" sz="4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4953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用真实场景、清晰技术闭环和可演示产物证明办公小浣熊的价值。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6477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i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"不是让人多收藏一个项目，而是让每一次收藏都变成未来可以找回、判断和复用的开源资产。"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8382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梁宇凡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56000" y="8382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2026.07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solidFill>
            <a:srgbClr val="F0EFE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223381"/>
              </p:ext>
            </p:extLst>
          </p:nvPr>
        </p:nvGraphicFramePr>
        <p:xfrm>
          <a:off x="8344452" y="1143000"/>
          <a:ext cx="7306365" cy="6858000"/>
        </p:xfrm>
        <a:graphic>
          <a:graphicData uri="http://schemas.openxmlformats.org/drawingml/2006/table">
            <a:tbl>
              <a:tblPr/>
              <a:tblGrid>
                <a:gridCol w="2045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0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Liter" pitchFamily="34" charset="-120"/>
                        </a:rPr>
                        <a:t>维度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Liter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0D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Liter" pitchFamily="34" charset="-120"/>
                        </a:rPr>
                        <a:t>对齐方式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0D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700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Liter" pitchFamily="34" charset="-120"/>
                        </a:rPr>
                        <a:t>场景洞察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Liter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Liter" pitchFamily="34" charset="-120"/>
                        </a:rPr>
                        <a:t>GitHub Star 收藏后遗忘、难复用，是开发者和 AI 编程用户的真实高频痛点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700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Liter" pitchFamily="34" charset="-120"/>
                        </a:rPr>
                        <a:t>技术方案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Liter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Liter" pitchFamily="34" charset="-120"/>
                        </a:rPr>
                        <a:t>基于办公小浣熊定时任务、Python 脚本、lark-cli、飞书文档、Base、仪表盘和 Slides 串成闭环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700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Liter" pitchFamily="34" charset="-120"/>
                        </a:rPr>
                        <a:t>当前成果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Liter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Liter" pitchFamily="34" charset="-120"/>
                        </a:rPr>
                        <a:t>已有 Skill 仓库、样例、测试、飞书 Base / 仪表盘、定时任务 Prompt 和录制视频演示路径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700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Liter" pitchFamily="34" charset="-120"/>
                        </a:rPr>
                        <a:t>商业价值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Liter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Liter" pitchFamily="34" charset="-120"/>
                        </a:rPr>
                        <a:t>当前先验证个人办公闭环，后续可拓展为云端订阅、MCP / Skills 和优质开源项目知识网络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700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Liter" pitchFamily="34" charset="-120"/>
                        </a:rPr>
                        <a:t>作品演示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Liter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1A"/>
                          </a:solidFill>
                          <a:latin typeface="Liter" panose="02000503030000020004" pitchFamily="2" charset="0"/>
                          <a:ea typeface="SimHei" panose="02010609060101010101" pitchFamily="49" charset="-122"/>
                          <a:cs typeface="Liter" pitchFamily="34" charset="-120"/>
                        </a:rPr>
                        <a:t>录制视频展示新增 Star 从发现到飞书入库，再到周 PPT 回顾</a:t>
                      </a:r>
                      <a:endParaRPr lang="en-US" sz="1500" dirty="0">
                        <a:latin typeface="Liter" panose="02000503030000020004" pitchFamily="2" charset="0"/>
                        <a:ea typeface="SimHei" panose="02010609060101010101" pitchFamily="49" charset="-122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9"/>
          <p:cNvSpPr/>
          <p:nvPr/>
        </p:nvSpPr>
        <p:spPr>
          <a:xfrm>
            <a:off x="12700000" y="8382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 · STAR-DART OPC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693</Words>
  <Application>Microsoft Macintosh PowerPoint</Application>
  <PresentationFormat>自定义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Arial</vt:lpstr>
      <vt:lpstr>Calibri</vt:lpstr>
      <vt:lpstr>Liter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Star-DART OPC 复赛路演</dc:title>
  <dc:subject>Star-DART OPC 复赛路演</dc:subject>
  <dc:creator>Kimi</dc:creator>
  <cp:lastModifiedBy>云帆</cp:lastModifiedBy>
  <cp:revision>7</cp:revision>
  <dcterms:created xsi:type="dcterms:W3CDTF">2026-07-03T13:17:58Z</dcterms:created>
  <dcterms:modified xsi:type="dcterms:W3CDTF">2026-07-03T14:16:10Z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{"Label":"Star-DART OPC 复赛路演","ContentProducer":"001191110108MACG2KBH8F10000","ProduceID":"19f23937-0842-8919-8000-0000e90d940c","ReservedCode1":"","ContentPropagator":"001191110108MACG2KBH8F20000","PropagateID":"19f2366a-4522-838a-8000-09ea01e3d14e","ReservedCode2":""}</vt:lpwstr>
  </property>
</Properties>
</file>